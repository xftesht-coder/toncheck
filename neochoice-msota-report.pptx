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GTM ОТЧЁТ · АВГУСТ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210312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в России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B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Новые товарные категории для развития с дистрибьютором «М-Сота»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4160520"/>
            <a:ext cx="2926080" cy="0"/>
          </a:xfrm>
          <a:prstGeom prst="line">
            <a:avLst/>
          </a:prstGeom>
          <a:noFill/>
          <a:ln w="25400">
            <a:solidFill>
              <a:srgbClr val="E849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продакт-менеджера в Китае: какие фабрики и SKU искать под найденные боли российских покупателей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РАМКА ИССЛЕДОВАНИЯ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не рассматриваем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Чтобы не конфликтовать с действующими договорённостями и роадмапом бренда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10881360" cy="896112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951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TWS / наушники / Wearable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606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Закреплены за другим дистрибьютором — конфликт недопустим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172968"/>
            <a:ext cx="10881360" cy="896112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1927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3264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Care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6301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роадмапе бренда, но на паузе из-за долгих сроков поставки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4197096"/>
            <a:ext cx="10881360" cy="896112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43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65429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 паузе из-за проблем на заводе-изготовителе — вернёмся позже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5221224"/>
            <a:ext cx="10881360" cy="896112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6752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53126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Роботы-пылесосы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67842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Исключены полностью: категория убыточна, бренд из неё выходит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TL;DR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Главный вывод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520440" cy="4160520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874520"/>
            <a:ext cx="3520440" cy="73152"/>
          </a:xfrm>
          <a:prstGeom prst="rect">
            <a:avLst/>
          </a:prstGeom>
          <a:solidFill>
            <a:srgbClr val="1E6B4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БЫСТРЫЙ СТАРТ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Повербанки и зарядные аксессуары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Готовые OEM в Китае (100Вт PD/SCP), только сертификация и локализация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520440" cy="4160520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74520"/>
            <a:ext cx="3520440" cy="73152"/>
          </a:xfrm>
          <a:prstGeom prst="rect">
            <a:avLst/>
          </a:prstGeom>
          <a:solidFill>
            <a:srgbClr val="B08B1E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8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СРЕДНИЙ ШАГ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48716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Весы, увлажнители, зубные щётки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Реальный спрос подтверждён отзывами, ценовой сегмент 1 500–6 000 ₽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3520440" cy="4160520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74520"/>
            <a:ext cx="3520440" cy="73152"/>
          </a:xfrm>
          <a:prstGeom prst="rect">
            <a:avLst/>
          </a:prstGeom>
          <a:solidFill>
            <a:srgbClr val="A63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6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СКВОЗНОЙ РИСК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58200" y="248716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Репутационный шлейф качества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6118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Жалобы на сборку и сервис бюджетного аудио нельзя повторить в новых категориях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выводов из исследования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19072"/>
            <a:ext cx="384048" cy="384048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0432" y="164592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— это «одобренный» суббренд сторонних OEM-производителей (Moecen, iKANOO, usmile), а не собственное производство — почти любую категорию можно запускать «быстро» на готовых фабриках.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651760"/>
            <a:ext cx="384048" cy="384048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578608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Китае ассортимент шире РФ: электросамокаты, детские GPS-часы, беговые дорожки, отпариватели, увлажнители — готовый пул для переноса.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584448"/>
            <a:ext cx="384048" cy="384048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584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3511296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Каждая кандидатная категория уже конкурентна — чаще всего лидер Xiaomi плюс МАРКЕТПЛЕЙС-СТМ (COMMO от Яндекса). Ниша HONOR CHOICE — между премиумом (Baseus/Ugreen/JBL) и ноунеймом.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384048" cy="384048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517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4443984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Подтверждённые боли (2–3 независимых источника): у колонок — моно вместо стерео и нестабильный Bluetooth; у повербанков — нет мощного адаптера в комплекте и беспроводной зарядки; у весов — неточность пульса и «дешёвый» пластик.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449824"/>
            <a:ext cx="384048" cy="384048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449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0432" y="5376672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Стратегический аналог в РФ — бренд COMMO (Яндекс Маркет): зарядка Core 20 — 37,4 тыс. покупок, 4,9★. Доказывает: модель «экосистемный value-бренд от площадки» работает именно в зарядке и аксессуарах.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3F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solidFill>
            <a:srgbClr val="1E6B4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БЫСТРЫЙ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СКОРОСТЬ ЗАПУСКА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solidFill>
            <a:srgbClr val="B08B1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486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РЕПУТАЦИОННЫЙ РИСК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77440" y="45720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Портативные Bluetooth-колонки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77440" y="117043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Расширение уже существующей линейки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 / РЕЛЕВАНТНОСТЬ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2029968"/>
            <a:ext cx="9189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 Speaker Pro/Mini повторяются жалобы: моно-звук вместо стерео и «жидкий» бас, нестабильное Bluetooth-подключение, крупный шаг громкости в приложении. Готовый чек-лист улучшений для следующей модели.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77440" y="3657600"/>
            <a:ext cx="9189720" cy="0"/>
          </a:xfrm>
          <a:prstGeom prst="line">
            <a:avLst/>
          </a:prstGeom>
          <a:noFill/>
          <a:ln w="9525">
            <a:solidFill>
              <a:srgbClr val="D8D9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886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ЦЕНОВОЙ СЕГМЕНТ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41879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2 400 – 6 800 ₽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0" y="3886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4187952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JBL Go 4, Xiaomi Sound Outdoor, Sven, Rombica, COMMO STAGE 30, Marshall (премиум)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5074920"/>
            <a:ext cx="9189720" cy="1005840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08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546811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Плотная категория, сильный бренд-эквити JBL/Marshall и объёмы COMMO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3F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solidFill>
            <a:srgbClr val="1E6B4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БЫСТРЫЙ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СКОРОСТЬ ЗАПУСКА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solidFill>
            <a:srgbClr val="B08B1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СРЕДНЕ-ВЫСОКИЙ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486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РЕПУТАЦИОННЫЙ РИСК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77440" y="45720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Внешние аккумуляторы (повербанки)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77440" y="117043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Высокий приоритет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 / РЕЛЕВАНТНОСТЬ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2029968"/>
            <a:ext cx="9189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Китае уже есть QHL-PB06 (100Вт PD/SCP, 20 000 мА·ч) и JOWAY 66Вт. Пользователи хвалят скорость, но жалуются: нет мощного адаптера в комплекте, нет беспроводной зарядки, у iOS не видно ватты.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77440" y="3657600"/>
            <a:ext cx="9189720" cy="0"/>
          </a:xfrm>
          <a:prstGeom prst="line">
            <a:avLst/>
          </a:prstGeom>
          <a:noFill/>
          <a:ln w="9525">
            <a:solidFill>
              <a:srgbClr val="D8D9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886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ЦЕНОВОЙ СЕГМЕНТ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41879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1 500 – 4 000 ₽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0" y="3886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4187952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Xiaomi/Redmi, TFN, Baseus, Anker, hoco/borofone, COMMO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5074920"/>
            <a:ext cx="9189720" cy="1005840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08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546811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Батарея — чувствительная к качеству категория: нужен строгий QC и сертификация (ЕАС, авиа)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3F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solidFill>
            <a:srgbClr val="1E6B4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ОЧЕНЬ БЫСТРЫЙ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СКОРОСТЬ ЗАПУСКА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solidFill>
            <a:srgbClr val="1E6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НИЗКИЙ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486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РЕПУТАЦИОННЫЙ РИСК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77440" y="45720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GaN-зарядки и кабели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77440" y="117043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Прямое следствие боли по повербанкам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 / РЕЛЕВАНТНОСТЬ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2029968"/>
            <a:ext cx="9189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Пользователи экосистемы Honor/Huawei нуждаются в SCP-совместимых зарядках и сейчас вынуждены брать Baseus/Ugreen. COMMO Core 20 показывает огромный объём в этой нише (37,4 тыс. покупок).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77440" y="3657600"/>
            <a:ext cx="9189720" cy="0"/>
          </a:xfrm>
          <a:prstGeom prst="line">
            <a:avLst/>
          </a:prstGeom>
          <a:noFill/>
          <a:ln w="9525">
            <a:solidFill>
              <a:srgbClr val="D8D9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886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ЦЕНОВОЙ СЕГМЕНТ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41879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1 000 – 4 000 ₽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0" y="3886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4187952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Baseus, Ugreen, Anker, COMMO, hoco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5074920"/>
            <a:ext cx="9189720" cy="1005840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546811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Простая электроника, но высокая ценовая конкуренция и низкая маржа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3F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solidFill>
            <a:srgbClr val="B08B1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СРЕДНИЙ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СКОРОСТЬ ЗАПУСКА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solidFill>
            <a:srgbClr val="B08B1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СРЕДНЕ-ВЫСОКИЙ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486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РЕПУТАЦИОННЫЙ РИСК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77440" y="45720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Умные напольные весы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77440" y="117043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Уже есть Honor Smart Scale 2 / AH100 вне CHOICE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 / РЕЛЕВАНТНОСТЬ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2029968"/>
            <a:ext cx="9189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Отзывы в целом позитивные, но повторяются боли: неточность пульса и био-параметров, «дешёвый» пластик корпуса, не всегда считывает % жира. Точность и надёжный корпус — точки дифференциации.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77440" y="3657600"/>
            <a:ext cx="9189720" cy="0"/>
          </a:xfrm>
          <a:prstGeom prst="line">
            <a:avLst/>
          </a:prstGeom>
          <a:noFill/>
          <a:ln w="9525">
            <a:solidFill>
              <a:srgbClr val="D8D9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886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ЦЕНОВОЙ СЕГМЕНТ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41879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1 500 – 2 500 ₽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0" y="3886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4187952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Xiaomi (доминирует), Picooc, Garmin, Withings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5074920"/>
            <a:ext cx="9189720" cy="1005840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08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546811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Жёсткий ценовой пол у Xiaomi (1 500–2 400 ₽ при 4 000+ продаж) — трудно отстроиться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3F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solidFill>
            <a:srgbClr val="B08B1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СРЕДНИЙ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СКОРОСТЬ ЗАПУСКА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solidFill>
            <a:srgbClr val="B08B1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486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РЕПУТАЦИОННЫЙ РИСК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77440" y="45720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Увлажнители воздуха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77440" y="117043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Сезонный спрос — отопительный период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 / РЕЛЕВАНТНОСТЬ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2029968"/>
            <a:ext cx="9189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уже предлагал увлажнитель в Китае. Типовые жалобы на Xiaomi/Deerma: разброс цен, вопросы к УФ-стерилизации и обслуживанию бака — гигиена бака типовая претензия ко всей категории.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77440" y="3657600"/>
            <a:ext cx="9189720" cy="0"/>
          </a:xfrm>
          <a:prstGeom prst="line">
            <a:avLst/>
          </a:prstGeom>
          <a:noFill/>
          <a:ln w="9525">
            <a:solidFill>
              <a:srgbClr val="D8D9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886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ЦЕНОВОЙ СЕГМЕНТ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41879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3 000 – 5 000 ₽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0" y="3886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4187952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Xiaomi/Smartmi/Deerma, Polaris, Ballu, Boneco, Electrolux, Timberk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5074920"/>
            <a:ext cx="9189720" cy="1005840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08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546811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Нужен продуманный дизайн бака и антибактериальное покрытие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3F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solidFill>
            <a:srgbClr val="B08B1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СРЕДНИЙ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СКОРОСТЬ ЗАПУСКА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solidFill>
            <a:srgbClr val="1E6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НИЗКО-СРЕДНИЙ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486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РЕПУТАЦИОННЫЙ РИСК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77440" y="45720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Электрические зубные щётки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77440" y="117043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Категория уже валидирована брендом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 / РЕЛЕВАНТНОСТЬ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2029968"/>
            <a:ext cx="9189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Usmile Sonic P1001 уже продаётся: IPX7, 2 500 mAh (≈полгода автономности), 32–38 тыс. движений/мин, 3 режима, USB-C. Спрос высокий: Soocas D3 — 3,9 тыс. покупок.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77440" y="3657600"/>
            <a:ext cx="9189720" cy="0"/>
          </a:xfrm>
          <a:prstGeom prst="line">
            <a:avLst/>
          </a:prstGeom>
          <a:noFill/>
          <a:ln w="9525">
            <a:solidFill>
              <a:srgbClr val="D8D9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886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ЦЕНОВОЙ СЕГМЕНТ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41879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2 000 – 4 500 ₽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0" y="3886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4187952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Xiaomi/Mijia, Soocas, Oclean, Dr.Bei, Oral-B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5074920"/>
            <a:ext cx="9189720" cy="1005840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546811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Нужна налаженная поставка сменных насадок (логистический хвост)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417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3F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74320" y="1417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solidFill>
            <a:srgbClr val="1E6B4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9659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БЫСТРЫЙ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СКОРОСТЬ ЗАПУСКА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solidFill>
            <a:srgbClr val="1E6B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5029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НИЗКИЙ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5486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E9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РЕПУТАЦИОННЫЙ РИСК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77440" y="45720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Компьютерная периферия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77440" y="117043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Мыши, клавиатуры, чехлы-клавиатуры для планшетов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 / РЕЛЕВАНТНОСТЬ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2029968"/>
            <a:ext cx="9189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уже продаёт беспроводные мыши и чехлы-клавиатуры с высокими оценками. Логично расширяет экосистему «1+8+N» и хорошо ложится на профиль дистрибьютора сотовой связи/аксессуаров.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77440" y="3657600"/>
            <a:ext cx="9189720" cy="0"/>
          </a:xfrm>
          <a:prstGeom prst="line">
            <a:avLst/>
          </a:prstGeom>
          <a:noFill/>
          <a:ln w="9525">
            <a:solidFill>
              <a:srgbClr val="D8D9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886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ЦЕНОВОЙ СЕГМЕНТ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418795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– 5 000 ₽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0" y="3886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4187952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Logitech, Xiaomi, Defender, A4Tech, Sven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5074920"/>
            <a:ext cx="9189720" cy="1005840"/>
          </a:xfrm>
          <a:prstGeom prst="rect">
            <a:avLst/>
          </a:prstGeom>
          <a:solidFill>
            <a:srgbClr val="F4F4F1"/>
          </a:solidFill>
          <a:ln w="9525">
            <a:solidFill>
              <a:srgbClr val="D8D9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546811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Низкая маржа, высокая конкуренция, но репутационно безопасна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СВОДНАЯ ТАБЛИЦА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 категорий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972800" cy="484632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2194560"/>
                <a:gridCol w="1828800"/>
                <a:gridCol w="1280160"/>
              </a:tblGrid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Категория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Спрос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Цена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Скорость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Риск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Колонки (расширение)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Высокий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2 400–6 800 ₽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Быстрый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08B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Средний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Повербанки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Очень высокий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1 500–4 000 ₽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Быстрый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08B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Средне-высокий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GaN-зарядки и кабели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Высокий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1 000–4 000 ₽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Очень быстрый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6B4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Низкий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Умные весы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Высокий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1 500–2 500 ₽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Средний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08B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Средне-высокий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Увлажнители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Средне-высокий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3 000–5 000 ₽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Средний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08B1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Средний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Зубные щётки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Высокий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2 000–4 500 ₽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Средний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6B4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Низко-средний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7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Периферия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Средний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500–5 000 ₽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169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Быстрый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6B4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Низкий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 ЗАПУСКА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этапа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ЭТАП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0–3 мес.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2926080" cy="0"/>
          </a:xfrm>
          <a:prstGeom prst="line">
            <a:avLst/>
          </a:prstGeom>
          <a:noFill/>
          <a:ln w="9525">
            <a:solidFill>
              <a:srgbClr val="D8D9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Быстрые победы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Зарядные аксессуары (GaN 20–65Вт + кабели) и повербанки 10 000–20 000 мА·ч. Сертификация ЕАС/авиа, мощный адаптер в комплекте.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ЭТАП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3–6 мес.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2926080" cy="0"/>
          </a:xfrm>
          <a:prstGeom prst="line">
            <a:avLst/>
          </a:prstGeom>
          <a:noFill/>
          <a:ln w="9525">
            <a:solidFill>
              <a:srgbClr val="D8D9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Расширение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61188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Стерео-колонка с исправленным Bluetooth и эквалайзером в приложении; тест электрических щёток (уже валидировано через usmile P1001) с надёжной поставкой насадок.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83880" y="182880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6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ЭТАП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2331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6–12 мес.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458200" y="2926080"/>
            <a:ext cx="2926080" cy="0"/>
          </a:xfrm>
          <a:prstGeom prst="line">
            <a:avLst/>
          </a:prstGeom>
          <a:noFill/>
          <a:ln w="9525">
            <a:solidFill>
              <a:srgbClr val="D8D9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Проверка гипотез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361188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Умные весы и увлажнители — только если удаётся отстроиться от Xiaomi по цене/качеству. Если за 2 квартала не выходит — заморозить категорию.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Сквозная рекомендация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9CB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Прежде чем масштабировать любую категорию — ввести жёсткий QC на заводе и прозрачную гарантийную схему в РФ — именно постпродажный сервис и брак «убивают» бюджетные бренды.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0881360" cy="1371600"/>
          </a:xfrm>
          <a:prstGeom prst="rect">
            <a:avLst/>
          </a:prstGeom>
          <a:solidFill>
            <a:srgbClr val="1E24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БЕНЧМАРК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8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Если доля сервисных обращений/возвратов по новой категории превышает средний по рынку уровень DNS (ориентир ~3% для бытовой техники) — приостановить закупку и вернуться к QC.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20624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2A9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Акцент: 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зарядные аксессуары и повербанки — самый быстрый и низкорисковый вход, параллельно готовим колонки и щётки ко второй волне. Бытовая техника (весы/увлажнители) — только при чёткой ценовой отстройке от Xiaomi.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49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Ограничения исследования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82296" cy="548640"/>
          </a:xfrm>
          <a:prstGeom prst="rect">
            <a:avLst/>
          </a:prstGeom>
          <a:solidFill>
            <a:srgbClr val="D8D9D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Статус «М-Сота» как дистрибьютора HONOR CHOICE публично не подтверждён — требует сверки внутренними документами.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82296" cy="548640"/>
          </a:xfrm>
          <a:prstGeom prst="rect">
            <a:avLst/>
          </a:prstGeom>
          <a:solidFill>
            <a:srgbClr val="D8D9D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7860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Часть отзывов агрегирована с зарубежных ретейлеров и Onliner/DNS.by — тональность может отличаться от чистого рынка РФ, но ключевые боли подтверждены кросс-источниками.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493008"/>
            <a:ext cx="82296" cy="548640"/>
          </a:xfrm>
          <a:prstGeom prst="rect">
            <a:avLst/>
          </a:prstGeom>
          <a:solidFill>
            <a:srgbClr val="D8D9D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1985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Цены на маркетплейсах волатильны и часто указаны с учётом промо/скидок — диапазоны ориентировочны на момент исследования (август 2026).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334256"/>
            <a:ext cx="82296" cy="548640"/>
          </a:xfrm>
          <a:prstGeom prst="rect">
            <a:avLst/>
          </a:prstGeom>
          <a:solidFill>
            <a:srgbClr val="D8D9D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6110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Часть материалов по бытовой технике — обзоры и анонсы по китайскому рынку, а не отзывы с рынка РФ; спрос в РФ для увлажнителей оценён по аналогам (Xiaomi, Polaris).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5175504"/>
            <a:ext cx="82296" cy="548640"/>
          </a:xfrm>
          <a:prstGeom prst="rect">
            <a:avLst/>
          </a:prstGeom>
          <a:solidFill>
            <a:srgbClr val="D8D9D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10235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Робот-пылесос упоминается только для контекста истории бренда — в рекомендации не входит согласно ограничениям задачи.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HONOR CHOICE × М-Сота · GTM отчёт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2026-08-04T12:20:13Z</dcterms:created>
  <dcterms:modified xsi:type="dcterms:W3CDTF">2026-08-04T12:20:13Z</dcterms:modified>
</cp:coreProperties>
</file>